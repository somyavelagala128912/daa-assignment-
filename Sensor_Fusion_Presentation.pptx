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71BC2B-91FF-4A65-BF16-B61FC3B31FBA}" v="2" dt="2026-10-25T10:38:35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yasri V" userId="8ee71b53ccd391f0" providerId="LiveId" clId="{A7862925-E7BC-40CE-997F-AE4783FCB15F}"/>
    <pc:docChg chg="undo custSel modSld">
      <pc:chgData name="somyasri V" userId="8ee71b53ccd391f0" providerId="LiveId" clId="{A7862925-E7BC-40CE-997F-AE4783FCB15F}" dt="2026-10-25T10:39:09.188" v="90" actId="20577"/>
      <pc:docMkLst>
        <pc:docMk/>
      </pc:docMkLst>
      <pc:sldChg chg="addSp delSp modSp mod">
        <pc:chgData name="somyasri V" userId="8ee71b53ccd391f0" providerId="LiveId" clId="{A7862925-E7BC-40CE-997F-AE4783FCB15F}" dt="2026-10-25T10:39:09.188" v="90" actId="20577"/>
        <pc:sldMkLst>
          <pc:docMk/>
          <pc:sldMk cId="3337428071" sldId="301"/>
        </pc:sldMkLst>
        <pc:spChg chg="add del mod">
          <ac:chgData name="somyasri V" userId="8ee71b53ccd391f0" providerId="LiveId" clId="{A7862925-E7BC-40CE-997F-AE4783FCB15F}" dt="2026-10-25T10:38:35.640" v="40" actId="767"/>
          <ac:spMkLst>
            <pc:docMk/>
            <pc:sldMk cId="3337428071" sldId="301"/>
            <ac:spMk id="3" creationId="{D794B51E-5D04-79DD-2ED3-422C2F8B3F31}"/>
          </ac:spMkLst>
        </pc:spChg>
        <pc:spChg chg="add del mod">
          <ac:chgData name="somyasri V" userId="8ee71b53ccd391f0" providerId="LiveId" clId="{A7862925-E7BC-40CE-997F-AE4783FCB15F}" dt="2026-10-25T10:39:09.188" v="90" actId="20577"/>
          <ac:spMkLst>
            <pc:docMk/>
            <pc:sldMk cId="3337428071" sldId="301"/>
            <ac:spMk id="6" creationId="{FCE3AEBC-2BA4-2659-CD5F-95D99DED786B}"/>
          </ac:spMkLst>
        </pc:spChg>
      </pc:sldChg>
    </pc:docChg>
  </pc:docChgLst>
  <pc:docChgLst>
    <pc:chgData name="vijay samala" userId="c2d034e2a9fe9e2d" providerId="LiveId" clId="{5C2D618E-E886-4D41-818A-33B892481906}"/>
    <pc:docChg chg="modSld">
      <pc:chgData name="vijay samala" userId="c2d034e2a9fe9e2d" providerId="LiveId" clId="{5C2D618E-E886-4D41-818A-33B892481906}" dt="2026-10-14T17:58:57.971" v="3" actId="20577"/>
      <pc:docMkLst>
        <pc:docMk/>
      </pc:docMkLst>
      <pc:sldChg chg="modSp mod">
        <pc:chgData name="vijay samala" userId="c2d034e2a9fe9e2d" providerId="LiveId" clId="{5C2D618E-E886-4D41-818A-33B892481906}" dt="2026-10-14T17:58:57.971" v="3" actId="20577"/>
        <pc:sldMkLst>
          <pc:docMk/>
          <pc:sldMk cId="3337428071" sldId="3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B435A-F9A2-4A6E-BFEA-DEC6E2038BEF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66490-858E-4598-A30E-9A5157530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87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935B-30C6-4BB1-8871-F4E942C08DA3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6417CA-5CE5-44ED-ACBB-76CC4074926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32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4DF4-B014-439F-AD3F-930A4A04A6C3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6963-979C-4FE3-81A9-4956C82DC55E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0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93470-03C7-44F8-8290-6850B22101B9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6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BDDE-964D-4EF2-8080-AB2C9D97E9F8}" type="datetime1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5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3FC8-CEFE-4A6C-9168-96EA82412608}" type="datetime1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7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A44-EAB4-44B8-8D4C-BD59D9A20E10}" type="datetime1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DE6E-B60D-47CD-9AE1-992A52C07EED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05BE7-DBD3-41EF-B7E6-FACB185FFA08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97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D06AD-649F-43B3-88C6-F52FEA07A623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8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B4F2E-33C1-44CE-B2E9-98DBD0F7BBEE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3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630D0-8A7B-4FAD-9CF9-566930056A2A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36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01786-4A29-220A-F690-4E9E38A18181}"/>
              </a:ext>
            </a:extLst>
          </p:cNvPr>
          <p:cNvSpPr txBox="1"/>
          <p:nvPr/>
        </p:nvSpPr>
        <p:spPr>
          <a:xfrm>
            <a:off x="6766560" y="122663"/>
            <a:ext cx="530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600" b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Department of Computer Science and Engineering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3AEBC-2BA4-2659-CD5F-95D99DED786B}"/>
              </a:ext>
            </a:extLst>
          </p:cNvPr>
          <p:cNvSpPr txBox="1"/>
          <p:nvPr/>
        </p:nvSpPr>
        <p:spPr>
          <a:xfrm>
            <a:off x="188258" y="4083909"/>
            <a:ext cx="6786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b="1" dirty="0">
                <a:latin typeface="Cambria"/>
                <a:ea typeface="Cambria"/>
                <a:cs typeface="Cambria"/>
                <a:sym typeface="Cambria"/>
              </a:rPr>
              <a:t>By</a:t>
            </a:r>
          </a:p>
          <a:p>
            <a:pPr lvl="0" algn="ctr"/>
            <a:r>
              <a:rPr lang="en-IN" b="1" u="sng" dirty="0">
                <a:latin typeface="Cambria"/>
                <a:ea typeface="Cambria"/>
                <a:cs typeface="Cambria"/>
                <a:sym typeface="Cambria"/>
              </a:rPr>
              <a:t>[VELAGALA SOMYA SRI] – [92400118621]</a:t>
            </a:r>
          </a:p>
        </p:txBody>
      </p:sp>
      <p:sp>
        <p:nvSpPr>
          <p:cNvPr id="4" name="Google Shape;71;p15">
            <a:extLst>
              <a:ext uri="{FF2B5EF4-FFF2-40B4-BE49-F238E27FC236}">
                <a16:creationId xmlns:a16="http://schemas.microsoft.com/office/drawing/2014/main" id="{D413E739-3D64-3A88-4AA0-0EEFFB2DB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27" y="900000"/>
            <a:ext cx="6623344" cy="1292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Fault-Tolerant Algorithm Design for Sensor Fusion in Autonomous Vehicle Systems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42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TABLE OF CONTENTS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463040" y="1188720"/>
          <a:ext cx="9326880" cy="4942332"/>
        </p:xfrm>
        <a:graphic>
          <a:graphicData uri="http://schemas.openxmlformats.org/drawingml/2006/table">
            <a:tbl>
              <a:tblPr firstRow="1" bandRow="1"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Sl. No.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Contents Details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Slide Number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04A2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Introduction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Review of Related Work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Research Methodology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Mathematical Foundation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Proposed Fusion Algorithm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Complexity Analysis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Experimental Set-up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Results &amp; Discussion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Key Observations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2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Limitations &amp; Future Work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Conclusion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30362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References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dirty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</a:p>
                  </a:txBody>
                  <a:tcPr marL="73152" marR="73152" anchor="ctr">
                    <a:lnL w="9525">
                      <a:solidFill>
                        <a:srgbClr val="B7D7DE"/>
                      </a:solidFill>
                    </a:lnL>
                    <a:lnR w="9525">
                      <a:solidFill>
                        <a:srgbClr val="B7D7DE"/>
                      </a:solidFill>
                    </a:lnR>
                    <a:lnT w="9525">
                      <a:solidFill>
                        <a:srgbClr val="B7D7DE"/>
                      </a:solidFill>
                    </a:lnT>
                    <a:lnB w="9525">
                      <a:solidFill>
                        <a:srgbClr val="B7D7D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005645"/>
                  </a:ext>
                </a:extLst>
              </a:tr>
            </a:tbl>
          </a:graphicData>
        </a:graphic>
      </p:graphicFrame>
      <p:sp>
        <p:nvSpPr>
          <p:cNvPr id="4" name="Footer 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5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3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188720"/>
            <a:ext cx="52120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3C49"/>
                </a:solidFill>
                <a:latin typeface="Times New Roman"/>
                <a:cs typeface="Times New Roman"/>
              </a:rPr>
              <a:t>Why fusion needs fault tolerance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1691640"/>
            <a:ext cx="5212080" cy="4480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256032" indent="-256032" algn="l">
              <a:spcBef>
                <a:spcPts val="0"/>
              </a:spcBef>
              <a:spcAft>
                <a:spcPts val="1000"/>
              </a:spcAft>
              <a:buClr>
                <a:srgbClr val="04A2B9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Times New Roman"/>
                <a:cs typeface="Times New Roman"/>
              </a:rPr>
              <a:t>A self-driving car combines lidar, radar and cameras; each is accurate in some conditions and fails in others.</a:t>
            </a:r>
          </a:p>
          <a:p>
            <a:pPr marL="256032" indent="-256032" algn="l">
              <a:spcBef>
                <a:spcPts val="0"/>
              </a:spcBef>
              <a:spcAft>
                <a:spcPts val="1000"/>
              </a:spcAft>
              <a:buClr>
                <a:srgbClr val="04A2B9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Times New Roman"/>
                <a:cs typeface="Times New Roman"/>
              </a:rPr>
              <a:t>The textbook weighted average is optimal only when every input is healthy; a stuck or drifting sensor passes straight into the estimate.</a:t>
            </a:r>
          </a:p>
          <a:p>
            <a:pPr marL="256032" indent="-256032" algn="l">
              <a:spcBef>
                <a:spcPts val="0"/>
              </a:spcBef>
              <a:spcAft>
                <a:spcPts val="1000"/>
              </a:spcAft>
              <a:buClr>
                <a:srgbClr val="04A2B9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Times New Roman"/>
                <a:cs typeface="Times New Roman"/>
              </a:rPr>
              <a:t>Because weights follow nominal accuracy, a false reading from a precise sensor is often trusted the most.</a:t>
            </a:r>
          </a:p>
          <a:p>
            <a:pPr marL="256032" indent="-256032" algn="l">
              <a:spcBef>
                <a:spcPts val="0"/>
              </a:spcBef>
              <a:spcAft>
                <a:spcPts val="1000"/>
              </a:spcAft>
              <a:buClr>
                <a:srgbClr val="04A2B9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Times New Roman"/>
                <a:cs typeface="Times New Roman"/>
              </a:rPr>
              <a:t>Question: given n readings with up to f wrong, how to combine them, and what does the protection cost in time?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3035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3C49"/>
                </a:solidFill>
                <a:latin typeface="Times New Roman"/>
                <a:cs typeface="Times New Roman"/>
              </a:rPr>
              <a:t>Research objectives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9164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Sensor and fault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Stuck, offset, drift, noise burst and spike faults on five redundant sensors.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07208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Interval-agreement fusion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Sort-and-sweep consensus, then inverse-variance weighting of the survivors.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081528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22776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Guarantees and complexity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Containment and bounded-influence propositions; O(n log n) time, O(n) space.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4197096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038344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Monte Carlo comparison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Against mean, weighted mean, median and median-gated weighted mean.</a:t>
            </a:r>
          </a:p>
        </p:txBody>
      </p:sp>
      <p:sp>
        <p:nvSpPr>
          <p:cNvPr id="26" name="Oval 25"/>
          <p:cNvSpPr/>
          <p:nvPr/>
        </p:nvSpPr>
        <p:spPr>
          <a:xfrm>
            <a:off x="6355080" y="5312664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REVIEW OF RELATED WORK (1/2)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4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051560"/>
            <a:ext cx="10881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F2933"/>
                </a:solidFill>
                <a:latin typeface="Times New Roman"/>
                <a:cs typeface="Times New Roman"/>
              </a:rPr>
              <a:t>Table 1 (a): Data fusion, fault taxonomy and fault detection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137160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2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Author(s), Year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 / Setting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 idea and relevance to this work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Hall &amp; Llinas, 1997 [1]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An Introduction to Multisensor Data Fusion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Combining sources gives better accuracy and more dependable inference than any single source: the case for redundancy.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Khaleghi et al., 2013 [2]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Multisensor Data Fusion: A Review of the State-of-the-Art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Organises fusion difficulties around data quality: imperfect, outlying, conflicting and correlated measurements.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Van Brummelen et al., 2018 [10]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Autonomous Vehicle Perception: Technology of Today and Tomorrow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Every sensing technology degrades in some conditions (rain, glare, multipath): the practical reason for redundancy.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Avižienis et al., 2004 [3]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Basic Concepts and Taxonomy of Dependable and Secure Computing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Separates fault, error and failure; fault tolerance stops errors turning into failures through detection and redundancy.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Isermann, 2005 [4]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Model-Based Fault Detection and Diagnosis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Tests the residual between model prediction and measurement; a slowly growing fault can be absorbed before the residual is large.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REVIEW OF RELATED WORK (2/2)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5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051560"/>
            <a:ext cx="10881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F2933"/>
                </a:solidFill>
                <a:latin typeface="Times New Roman"/>
                <a:cs typeface="Times New Roman"/>
              </a:rPr>
              <a:t>Table 1 (b): Filtering and agreement-based methods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1371600"/>
          <a:ext cx="10927079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9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Author(s), Year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 / Setting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 idea and relevance to this work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Kalman, 1960 [5]; Bar-Shalom et al., 2001 [6]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Linear filtering; Estimation with Applications to Tracking and Navigation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Innovation sequence can reject readings that disagree with the prediction; inverse-variance weighting is minimum-variance when all sensors are healthy.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Lamport, Shostak &amp; Pease, 1982 [7]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The Byzantine Generals Problem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Some participants may behave arbitrarily and the rest must still agree: the fault model behind this study.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Marzullo, 1990 [8]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Tolerating Failures of Continuous-Valued Sensors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Each sensor gives an interval; the region consistent with n − f intervals is found by sorting end-points and contains the truth.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Brooks &amp; Iyengar, 1996 [9]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Robust Distributed Computing and Sensing Algorithm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Hybrid: interval-overlap test plus weighted averaging, giving both accuracy and precision.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94360" y="557784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3C49"/>
                </a:solidFill>
                <a:latin typeface="Times New Roman"/>
                <a:cs typeface="Times New Roman"/>
              </a:rPr>
              <a:t>Comparison: </a:t>
            </a: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mean and weighted mean have no defence against a wrong input; the median ignores accuracy; Kalman gating needs a model; Marzullo returns a region, not a refined estimate.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RESEARCH GAP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6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097280"/>
            <a:ext cx="10789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Four gaps in teaching material and small projects, and where this paper closes them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73736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91440" rIns="137160" bIns="9144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C49"/>
                </a:solidFill>
                <a:latin typeface="Times New Roman"/>
                <a:cs typeface="Times New Roman"/>
              </a:rPr>
              <a:t>Ingredients appear separately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Fault model, detection rule, fusion rule, complexity analysis and evaluation are rarely shown together in one worked pipeline.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692B"/>
                </a:solidFill>
                <a:latin typeface="Times New Roman"/>
                <a:cs typeface="Times New Roman"/>
              </a:rPr>
              <a:t>Closed by: Sec. III–V (full pipeline)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" y="1938528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73736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91440" rIns="137160" bIns="9144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C49"/>
                </a:solidFill>
                <a:latin typeface="Times New Roman"/>
                <a:cs typeface="Times New Roman"/>
              </a:rPr>
              <a:t>Baselines are too weak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Comparisons skip the median, which already tolerates a minority of faults, so gains look larger than they are.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692B"/>
                </a:solidFill>
                <a:latin typeface="Times New Roman"/>
                <a:cs typeface="Times New Roman"/>
              </a:rPr>
              <a:t>Closed by: five-method comparison (Sec. VI)</a:t>
            </a:r>
          </a:p>
        </p:txBody>
      </p:sp>
      <p:sp>
        <p:nvSpPr>
          <p:cNvPr id="20" name="Oval 19"/>
          <p:cNvSpPr/>
          <p:nvPr/>
        </p:nvSpPr>
        <p:spPr>
          <a:xfrm>
            <a:off x="6245352" y="1938528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77639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91440" rIns="137160" bIns="9144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C49"/>
                </a:solidFill>
                <a:latin typeface="Times New Roman"/>
                <a:cs typeface="Times New Roman"/>
              </a:rPr>
              <a:t>Added value is not quantified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How much interval agreement plus inverse-variance weighting adds over the median is seldom measured.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692B"/>
                </a:solidFill>
                <a:latin typeface="Times New Roman"/>
                <a:cs typeface="Times New Roman"/>
              </a:rPr>
              <a:t>Closed by: RMSE, unsafe rate, flags (Sec. VI-E, F)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" y="4178807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977639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91440" rIns="137160" bIns="9144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3C49"/>
                </a:solidFill>
                <a:latin typeface="Times New Roman"/>
                <a:cs typeface="Times New Roman"/>
              </a:rPr>
              <a:t>Where it stops working is hidden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Behaviour when more than f sensors fail, and sensitivity to the interval factor k, is rarely reported.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692B"/>
                </a:solidFill>
                <a:latin typeface="Times New Roman"/>
                <a:cs typeface="Times New Roman"/>
              </a:rPr>
              <a:t>Closed by: 3-fault runs and k study (Sec. VI-H)</a:t>
            </a:r>
          </a:p>
        </p:txBody>
      </p:sp>
      <p:sp>
        <p:nvSpPr>
          <p:cNvPr id="24" name="Oval 23"/>
          <p:cNvSpPr/>
          <p:nvPr/>
        </p:nvSpPr>
        <p:spPr>
          <a:xfrm>
            <a:off x="6245352" y="4178807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RESEARCH METHODOLOGY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7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051560"/>
            <a:ext cx="10881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Overview: simulation-based comparative study with known ground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78308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F4FBFC"/>
          </a:solidFill>
          <a:ln w="12700">
            <a:solidFill>
              <a:srgbClr val="04A2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bIns="9144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Generate truth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x(t) = 40 + 10 sin(2πt/300) + 0.01t m, 600 steps of 0.1 s.</a:t>
            </a:r>
          </a:p>
        </p:txBody>
      </p:sp>
      <p:sp>
        <p:nvSpPr>
          <p:cNvPr id="18" name="Oval 17"/>
          <p:cNvSpPr/>
          <p:nvPr/>
        </p:nvSpPr>
        <p:spPr>
          <a:xfrm>
            <a:off x="1353312" y="1581912"/>
            <a:ext cx="402336" cy="402336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51176" y="2697480"/>
            <a:ext cx="258317" cy="274320"/>
          </a:xfrm>
          <a:prstGeom prst="rightArrow">
            <a:avLst/>
          </a:prstGeom>
          <a:solidFill>
            <a:srgbClr val="04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846070" y="178308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F4FBFC"/>
          </a:solidFill>
          <a:ln w="12700">
            <a:solidFill>
              <a:srgbClr val="04A2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bIns="9144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Simulate sensors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Five sensors with independent Gaussian noise, σ = 0.10 to 0.50 m.</a:t>
            </a:r>
          </a:p>
        </p:txBody>
      </p:sp>
      <p:sp>
        <p:nvSpPr>
          <p:cNvPr id="21" name="Oval 20"/>
          <p:cNvSpPr/>
          <p:nvPr/>
        </p:nvSpPr>
        <p:spPr>
          <a:xfrm>
            <a:off x="3605021" y="1581912"/>
            <a:ext cx="402336" cy="402336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02886" y="2697480"/>
            <a:ext cx="258317" cy="274320"/>
          </a:xfrm>
          <a:prstGeom prst="rightArrow">
            <a:avLst/>
          </a:prstGeom>
          <a:solidFill>
            <a:srgbClr val="04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97780" y="178308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F4FBFC"/>
          </a:solidFill>
          <a:ln w="12700">
            <a:solidFill>
              <a:srgbClr val="04A2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bIns="9144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Inject faults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Stuck, offset, drift, burst or spike on 0–3 sensors for 120–259 steps.</a:t>
            </a:r>
          </a:p>
        </p:txBody>
      </p:sp>
      <p:sp>
        <p:nvSpPr>
          <p:cNvPr id="24" name="Oval 23"/>
          <p:cNvSpPr/>
          <p:nvPr/>
        </p:nvSpPr>
        <p:spPr>
          <a:xfrm>
            <a:off x="5856732" y="1581912"/>
            <a:ext cx="402336" cy="402336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54596" y="2697480"/>
            <a:ext cx="258317" cy="274320"/>
          </a:xfrm>
          <a:prstGeom prst="rightArrow">
            <a:avLst/>
          </a:prstGeom>
          <a:solidFill>
            <a:srgbClr val="04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49490" y="178308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F4FBFC"/>
          </a:solidFill>
          <a:ln w="12700">
            <a:solidFill>
              <a:srgbClr val="04A2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bIns="9144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Agree and fuse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Intervals z ± kσ, sort-and-sweep, flag outliers, weight the rest.</a:t>
            </a:r>
          </a:p>
        </p:txBody>
      </p:sp>
      <p:sp>
        <p:nvSpPr>
          <p:cNvPr id="27" name="Oval 26"/>
          <p:cNvSpPr/>
          <p:nvPr/>
        </p:nvSpPr>
        <p:spPr>
          <a:xfrm>
            <a:off x="8108442" y="1581912"/>
            <a:ext cx="402336" cy="402336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06305" y="2697480"/>
            <a:ext cx="258317" cy="274320"/>
          </a:xfrm>
          <a:prstGeom prst="rightArrow">
            <a:avLst/>
          </a:prstGeom>
          <a:solidFill>
            <a:srgbClr val="04A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01200" y="1783080"/>
            <a:ext cx="1920240" cy="2103120"/>
          </a:xfrm>
          <a:prstGeom prst="roundRect">
            <a:avLst>
              <a:gd name="adj" fmla="val 6000"/>
            </a:avLst>
          </a:prstGeom>
          <a:solidFill>
            <a:srgbClr val="F4FBFC"/>
          </a:solidFill>
          <a:ln w="12700">
            <a:solidFill>
              <a:srgbClr val="04A2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bIns="9144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Evaluate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RMSE, unsafe rate, precision / recall and run time against four baselines.</a:t>
            </a:r>
          </a:p>
        </p:txBody>
      </p:sp>
      <p:sp>
        <p:nvSpPr>
          <p:cNvPr id="30" name="Oval 29"/>
          <p:cNvSpPr/>
          <p:nvPr/>
        </p:nvSpPr>
        <p:spPr>
          <a:xfrm>
            <a:off x="10360152" y="1581912"/>
            <a:ext cx="402336" cy="402336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069080"/>
            <a:ext cx="6423660" cy="411480"/>
          </a:xfrm>
          <a:prstGeom prst="roundRect">
            <a:avLst>
              <a:gd name="adj" fmla="val 20000"/>
            </a:avLst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Simulation track (Sec. III)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49490" y="4069080"/>
            <a:ext cx="4171950" cy="411480"/>
          </a:xfrm>
          <a:prstGeom prst="roundRect">
            <a:avLst>
              <a:gd name="adj" fmla="val 20000"/>
            </a:avLst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Fusion and evaluation (Sec. IV–VI)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754880"/>
            <a:ext cx="109270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4A2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3C49"/>
                </a:solidFill>
                <a:latin typeface="Times New Roman"/>
                <a:cs typeface="Times New Roman"/>
              </a:rPr>
              <a:t>Fused estimate  =  inverse-variance mean of the sensors that agree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One time step at a time: no training and no history. Cost per cycle O(n log n) time, O(n) space, so behaviour can be traced by hand.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SENSOR AND FAULT MODEL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8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051560"/>
            <a:ext cx="1092708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3C49"/>
                </a:solidFill>
                <a:latin typeface="Times New Roman"/>
                <a:cs typeface="Times New Roman"/>
              </a:rPr>
              <a:t>Five sensors (σ in m): LiDAR 0.10, Radar-1 0.25, Camera-1 0.50, Camera-2 0.40, Radar-2 0.20. Design bound f = 2 of n = 5, so f &lt; n/2.</a:t>
            </a:r>
          </a:p>
        </p:txBody>
      </p:sp>
      <p:pic>
        <p:nvPicPr>
          <p:cNvPr id="17" name="Picture 16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37360"/>
            <a:ext cx="4274787" cy="4160520"/>
          </a:xfrm>
          <a:prstGeom prst="rect">
            <a:avLst/>
          </a:prstGeom>
          <a:ln w="9525">
            <a:solidFill>
              <a:srgbClr val="BFD5DA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94360" y="5943600"/>
            <a:ext cx="4274787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F2933"/>
                </a:solidFill>
                <a:latin typeface="Times New Roman"/>
                <a:cs typeface="Times New Roman"/>
              </a:rPr>
              <a:t>Figure 2: The five injected fault types (shaded = fault window)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9187" y="1737360"/>
            <a:ext cx="6332252" cy="758952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36576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B3C49"/>
                </a:solidFill>
                <a:latin typeface="Times New Roman"/>
                <a:cs typeface="Times New Roman"/>
              </a:rPr>
              <a:t>Stuck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Output freezes at the value it had when the fault began.</a:t>
            </a:r>
          </a:p>
        </p:txBody>
      </p:sp>
      <p:sp>
        <p:nvSpPr>
          <p:cNvPr id="20" name="Oval 19"/>
          <p:cNvSpPr/>
          <p:nvPr/>
        </p:nvSpPr>
        <p:spPr>
          <a:xfrm>
            <a:off x="5326347" y="1892807"/>
            <a:ext cx="438912" cy="438912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9187" y="2587752"/>
            <a:ext cx="6332252" cy="758952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36576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B3C49"/>
                </a:solidFill>
                <a:latin typeface="Times New Roman"/>
                <a:cs typeface="Times New Roman"/>
              </a:rPr>
              <a:t>Offset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Constant error of 2–5 m, positive or negative, is added.</a:t>
            </a:r>
          </a:p>
        </p:txBody>
      </p:sp>
      <p:sp>
        <p:nvSpPr>
          <p:cNvPr id="22" name="Oval 21"/>
          <p:cNvSpPr/>
          <p:nvPr/>
        </p:nvSpPr>
        <p:spPr>
          <a:xfrm>
            <a:off x="5326347" y="2743200"/>
            <a:ext cx="438912" cy="438912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9187" y="3438144"/>
            <a:ext cx="6332252" cy="758952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36576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B3C49"/>
                </a:solidFill>
                <a:latin typeface="Times New Roman"/>
                <a:cs typeface="Times New Roman"/>
              </a:rPr>
              <a:t>Drift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Error grows linearly from zero to 3–6 m over the window.</a:t>
            </a:r>
          </a:p>
        </p:txBody>
      </p:sp>
      <p:sp>
        <p:nvSpPr>
          <p:cNvPr id="24" name="Oval 23"/>
          <p:cNvSpPr/>
          <p:nvPr/>
        </p:nvSpPr>
        <p:spPr>
          <a:xfrm>
            <a:off x="5326347" y="3593591"/>
            <a:ext cx="438912" cy="438912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9187" y="4288536"/>
            <a:ext cx="6332252" cy="758952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36576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B3C49"/>
                </a:solidFill>
                <a:latin typeface="Times New Roman"/>
                <a:cs typeface="Times New Roman"/>
              </a:rPr>
              <a:t>Burst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Noise standard deviation becomes ten times its normal value.</a:t>
            </a:r>
          </a:p>
        </p:txBody>
      </p:sp>
      <p:sp>
        <p:nvSpPr>
          <p:cNvPr id="26" name="Oval 25"/>
          <p:cNvSpPr/>
          <p:nvPr/>
        </p:nvSpPr>
        <p:spPr>
          <a:xfrm>
            <a:off x="5326347" y="4443983"/>
            <a:ext cx="438912" cy="438912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89187" y="5138928"/>
            <a:ext cx="6332252" cy="758952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36576" bIns="36576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B3C49"/>
                </a:solidFill>
                <a:latin typeface="Times New Roman"/>
                <a:cs typeface="Times New Roman"/>
              </a:rPr>
              <a:t>Spike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With probability 0.3 per step an outlier of 5–15 m is added.</a:t>
            </a:r>
          </a:p>
        </p:txBody>
      </p:sp>
      <p:sp>
        <p:nvSpPr>
          <p:cNvPr id="28" name="Oval 27"/>
          <p:cNvSpPr/>
          <p:nvPr/>
        </p:nvSpPr>
        <p:spPr>
          <a:xfrm>
            <a:off x="5326347" y="5294376"/>
            <a:ext cx="438912" cy="438912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MATHEMATICAL FOUNDATION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9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051560"/>
            <a:ext cx="10881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F2933"/>
                </a:solidFill>
                <a:latin typeface="Times New Roman"/>
                <a:cs typeface="Times New Roman"/>
              </a:rPr>
              <a:t>Table 2: Quantities used by the fusion rule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1371600"/>
          <a:ext cx="10927079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6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Quantity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Expression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Sensor model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z_i = x + e_i,   e_i ~ N(0, σ_i²)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Healthy sensor reports truth plus noise; a faulty one reports anything.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Weighted mean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x̂ = Σ w_i z_i / Σ w_i,   w_i = 1/σ_i²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Minimum variance when all healthy; σ ≈ 0.081 m for these five sensors.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Interval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I_i = [ z_i − kσ_i , z_i + kσ_i ]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Range each sensor says should contain the truth.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Agreement count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c(y) = | { i : y ∈ I_i } |,   c* = max c(y)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Region R where c = c*; ties go to the one nearest the median.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Consistent set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 = { i : I_i ∩ R ≠ ∅ }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Sensors outside S are flagged as faulty.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Fused estimate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x̂ = Σ_S w_i z_i / Σ_S w_i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Same weighting, restricted to the consistent sensors.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94360" y="4709160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Proposition 1: containment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If at most f sensors are faulty and healthy intervals contain x, then c(x) ≥ n − f, so c* ≥ n − f and the truth lies in a region of that count.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709160"/>
            <a:ext cx="534924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Proposition 2: bounded influence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A surviving sensor satisfies |z_i − x| ≤ kσ_i + (hi − lo). A fault can hide only by being small.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PROPOSED FUSION ALGORITHM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10</a:t>
            </a:fld>
            <a:endParaRPr lang="en-IN"/>
          </a:p>
        </p:txBody>
      </p:sp>
      <p:pic>
        <p:nvPicPr>
          <p:cNvPr id="16" name="Picture 15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3769821" cy="5029200"/>
          </a:xfrm>
          <a:prstGeom prst="rect">
            <a:avLst/>
          </a:prstGeom>
          <a:ln w="9525">
            <a:solidFill>
              <a:srgbClr val="BFD5DA"/>
            </a:solidFill>
          </a:ln>
        </p:spPr>
      </p:pic>
      <p:sp>
        <p:nvSpPr>
          <p:cNvPr id="17" name="Rectangle 16"/>
          <p:cNvSpPr/>
          <p:nvPr/>
        </p:nvSpPr>
        <p:spPr>
          <a:xfrm>
            <a:off x="594360" y="6199632"/>
            <a:ext cx="376982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F2933"/>
                </a:solidFill>
                <a:latin typeface="Times New Roman"/>
                <a:cs typeface="Times New Roman"/>
              </a:rPr>
              <a:t>Figure 3: Flowchart of the fusion routine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9941" y="1188720"/>
            <a:ext cx="6791498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09728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Build intervals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[z_i − kσ_i, z_i + kσ_i] for every sensor; 2n end-points in one list.</a:t>
            </a:r>
          </a:p>
        </p:txBody>
      </p:sp>
      <p:sp>
        <p:nvSpPr>
          <p:cNvPr id="19" name="Oval 18"/>
          <p:cNvSpPr/>
          <p:nvPr/>
        </p:nvSpPr>
        <p:spPr>
          <a:xfrm>
            <a:off x="4867101" y="141732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29941" y="2194560"/>
            <a:ext cx="6791498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09728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Sort and sweep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Starts before ends on ties; counter +1 at a start, −1 at an end.</a:t>
            </a:r>
          </a:p>
        </p:txBody>
      </p:sp>
      <p:sp>
        <p:nvSpPr>
          <p:cNvPr id="21" name="Oval 20"/>
          <p:cNvSpPr/>
          <p:nvPr/>
        </p:nvSpPr>
        <p:spPr>
          <a:xfrm>
            <a:off x="4867101" y="242316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9941" y="3200400"/>
            <a:ext cx="6791498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09728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Pick the region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Highest overlap count c*; ties go to the stretch closest to the median.</a:t>
            </a:r>
          </a:p>
        </p:txBody>
      </p:sp>
      <p:sp>
        <p:nvSpPr>
          <p:cNvPr id="23" name="Oval 22"/>
          <p:cNvSpPr/>
          <p:nvPr/>
        </p:nvSpPr>
        <p:spPr>
          <a:xfrm>
            <a:off x="4867101" y="342900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9941" y="4206240"/>
            <a:ext cx="6791498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09728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Flag and mark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Flag sensors that miss the region; mark degraded if c* &lt; n − f.</a:t>
            </a:r>
          </a:p>
        </p:txBody>
      </p:sp>
      <p:sp>
        <p:nvSpPr>
          <p:cNvPr id="25" name="Oval 24"/>
          <p:cNvSpPr/>
          <p:nvPr/>
        </p:nvSpPr>
        <p:spPr>
          <a:xfrm>
            <a:off x="4867101" y="443484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29941" y="5212080"/>
            <a:ext cx="6791498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09728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Fuse the survivors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Return the inverse-variance weighted mean, the flagged set and the marker.</a:t>
            </a:r>
          </a:p>
        </p:txBody>
      </p:sp>
      <p:sp>
        <p:nvSpPr>
          <p:cNvPr id="27" name="Oval 26"/>
          <p:cNvSpPr/>
          <p:nvPr/>
        </p:nvSpPr>
        <p:spPr>
          <a:xfrm>
            <a:off x="4867101" y="544068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WORKED EXAMPLE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11</a:t>
            </a:fld>
            <a:endParaRPr lang="en-IN"/>
          </a:p>
        </p:txBody>
      </p:sp>
      <p:pic>
        <p:nvPicPr>
          <p:cNvPr id="16" name="Picture 15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6766560" cy="2966163"/>
          </a:xfrm>
          <a:prstGeom prst="rect">
            <a:avLst/>
          </a:prstGeom>
          <a:ln w="9525">
            <a:solidFill>
              <a:srgbClr val="BFD5DA"/>
            </a:solidFill>
          </a:ln>
        </p:spPr>
      </p:pic>
      <p:sp>
        <p:nvSpPr>
          <p:cNvPr id="17" name="Rectangle 16"/>
          <p:cNvSpPr/>
          <p:nvPr/>
        </p:nvSpPr>
        <p:spPr>
          <a:xfrm>
            <a:off x="594360" y="4200603"/>
            <a:ext cx="6766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F2933"/>
                </a:solidFill>
                <a:latin typeface="Times New Roman"/>
                <a:cs typeface="Times New Roman"/>
              </a:rPr>
              <a:t>Figure 4: Intervals z ± 3σ at one step; true range 40.00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566363"/>
            <a:ext cx="6766560" cy="16972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256032" indent="-256032" algn="l">
              <a:spcBef>
                <a:spcPts val="0"/>
              </a:spcBef>
              <a:spcAft>
                <a:spcPts val="6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Four of five intervals overlap on [39.75, 40.35], so c* = 4 ≥ n − f = 3.</a:t>
            </a:r>
          </a:p>
          <a:p>
            <a:pPr marL="256032" indent="-256032" algn="l">
              <a:spcBef>
                <a:spcPts val="0"/>
              </a:spcBef>
              <a:spcAft>
                <a:spcPts val="6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Camera-2 (offset fault, reads 43.60 m) has interval [42.40, 44.80], misses the region and is flagged.</a:t>
            </a:r>
          </a:p>
          <a:p>
            <a:pPr marL="256032" indent="-256032" algn="l">
              <a:spcBef>
                <a:spcPts val="0"/>
              </a:spcBef>
              <a:spcAft>
                <a:spcPts val="6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Weights 100, 16, 4, 25 sum to 145; fused estimate = 5811.6 / 145 = 40.080 m.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635240" y="1188720"/>
          <a:ext cx="3886198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Estimate (m)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Error (m)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Simple mean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40.754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0.754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Weighted mean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40.225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0.225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Median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40.120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0.120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Median-gated IVW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40.080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0.080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Proposed method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40.080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0.080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635240" y="4160520"/>
            <a:ext cx="3886200" cy="109728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4A2B9"/>
                </a:solidFill>
                <a:latin typeface="Times New Roman"/>
                <a:cs typeface="Times New Roman"/>
              </a:rPr>
              <a:t>0.080 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error of the proposed method (simple mean: 0.754 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5394960"/>
            <a:ext cx="38862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F2933"/>
                </a:solidFill>
                <a:latin typeface="Times New Roman"/>
                <a:cs typeface="Times New Roman"/>
              </a:rPr>
              <a:t>A single hand-picked step to show the mechanics; performance claims rest on the Monte Carlo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COMPLEXITY ANALYSIS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12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051560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F2933"/>
                </a:solidFill>
                <a:latin typeface="Times New Roman"/>
                <a:cs typeface="Times New Roman"/>
              </a:rPr>
              <a:t>Table 3: Time cost of one fusion cycle with n sensors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1371600"/>
          <a:ext cx="7315198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Complexity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Reason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Interval construction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O(n)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One pass over the sensors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Sorting end-points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O(n log n)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2n values sorted by position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Sweep and counting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O(n)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One pass over 2n sorted events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Region selection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O(n)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Scan of segments, median of readings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Flagging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O(n)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Compare each interval with the region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Weighted mean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O(n)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One pass over unflagged sensors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Total per cycle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O(n log n)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Dominated by the sort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94360" y="5120640"/>
            <a:ext cx="7315200" cy="109728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The median costs expected O(n) and the weighted mean O(n), so the proposed routine is asymptotically a little more expensive. In exchange it returns the flagged set, which neither of the others does. Working memory is O(n); nothing is carried between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18872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4A2B9"/>
                </a:solidFill>
                <a:latin typeface="Times New Roman"/>
                <a:cs typeface="Times New Roman"/>
              </a:rPr>
              <a:t>O(n log n)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time per fusion 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88036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4A2B9"/>
                </a:solidFill>
                <a:latin typeface="Times New Roman"/>
                <a:cs typeface="Times New Roman"/>
              </a:rPr>
              <a:t>O(n)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working space per 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572000"/>
            <a:ext cx="3291840" cy="164592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4A2B9"/>
                </a:solidFill>
                <a:latin typeface="Times New Roman"/>
                <a:cs typeface="Times New Roman"/>
              </a:rPr>
              <a:t>0.029 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per call at n = 5, a negligible share of a 100 ms sensing cycle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EXPERIMENTAL SET-UP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13</a:t>
            </a:fld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594360" y="118872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0B3C49"/>
                </a:solidFill>
                <a:latin typeface="Times New Roman"/>
                <a:cs typeface="Times New Roman"/>
              </a:rPr>
              <a:t>Implementation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Python 3 with NumPy and Matplotlib; single thread; fixed seeds (2026, 77, 5, 9) so every run can be repeated.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18872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0B3C49"/>
                </a:solidFill>
                <a:latin typeface="Times New Roman"/>
                <a:cs typeface="Times New Roman"/>
              </a:rPr>
              <a:t>Sensors and signal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n = 5 (LiDAR, Radar-1, Camera-1, Camera-2, Radar-2); 600 steps of 0.1 s per run; synchronised samples.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18872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0B3C49"/>
                </a:solidFill>
                <a:latin typeface="Times New Roman"/>
                <a:cs typeface="Times New Roman"/>
              </a:rPr>
              <a:t>Fault settings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0, 1, 2 and 3 faulty sensors (3 is beyond the design limit); f = 2, k = 3; random type and window.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5760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0B3C49"/>
                </a:solidFill>
                <a:latin typeface="Times New Roman"/>
                <a:cs typeface="Times New Roman"/>
              </a:rPr>
              <a:t>Repetitions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150 runs per configuration in the main comparison; 100 per fault type; 60 per setting in the k study.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65760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0B3C49"/>
                </a:solidFill>
                <a:latin typeface="Times New Roman"/>
                <a:cs typeface="Times New Roman"/>
              </a:rPr>
              <a:t>Methods compared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Simple mean, weighted mean (IVW), median, median-gated IVW, and the proposed interval-agreement method.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65760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0B3C49"/>
                </a:solidFill>
                <a:latin typeface="Times New Roman"/>
                <a:cs typeface="Times New Roman"/>
              </a:rPr>
              <a:t>Metrics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RMSE, unsafe-estimate rate (error &gt; 1.0 m), worst-case error, precision, recall and false-alarm rate.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RESULTS: ESTIMATION ACCURACY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14</a:t>
            </a:fld>
            <a:endParaRPr lang="en-IN"/>
          </a:p>
        </p:txBody>
      </p:sp>
      <p:pic>
        <p:nvPicPr>
          <p:cNvPr id="16" name="Picture 15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6949440" cy="3331923"/>
          </a:xfrm>
          <a:prstGeom prst="rect">
            <a:avLst/>
          </a:prstGeom>
          <a:ln w="9525">
            <a:solidFill>
              <a:srgbClr val="BFD5DA"/>
            </a:solidFill>
          </a:ln>
        </p:spPr>
      </p:pic>
      <p:sp>
        <p:nvSpPr>
          <p:cNvPr id="17" name="Rectangle 16"/>
          <p:cNvSpPr/>
          <p:nvPr/>
        </p:nvSpPr>
        <p:spPr>
          <a:xfrm>
            <a:off x="594360" y="4566363"/>
            <a:ext cx="74066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F2933"/>
                </a:solidFill>
                <a:latin typeface="Times New Roman"/>
                <a:cs typeface="Times New Roman"/>
              </a:rPr>
              <a:t>Figure 5: RMSE of the five fusion methods vs. number of faulty sensors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932123"/>
            <a:ext cx="7406640" cy="13315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256032" indent="-256032" algn="l">
              <a:spcBef>
                <a:spcPts val="0"/>
              </a:spcBef>
              <a:spcAft>
                <a:spcPts val="600"/>
              </a:spcAft>
              <a:buClr>
                <a:srgbClr val="04A2B9"/>
              </a:buClr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With no faults the proposed method equals the weighted mean (0.081 m) and beats the median and simple mean.</a:t>
            </a:r>
          </a:p>
          <a:p>
            <a:pPr marL="256032" indent="-256032" algn="l">
              <a:spcBef>
                <a:spcPts val="0"/>
              </a:spcBef>
              <a:spcAft>
                <a:spcPts val="600"/>
              </a:spcAft>
              <a:buClr>
                <a:srgbClr val="04A2B9"/>
              </a:buClr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With one fault the weighted mean is worst (1.187 m); the proposed method gives 0.095 m against 0.141 m for the median.</a:t>
            </a:r>
          </a:p>
          <a:p>
            <a:pPr marL="256032" indent="-256032" algn="l"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Beyond the design limit (3 faults) every method degrades; worst error reaches about 14.4 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234440"/>
            <a:ext cx="315468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4A2B9"/>
                </a:solidFill>
                <a:latin typeface="Times New Roman"/>
                <a:cs typeface="Times New Roman"/>
              </a:rPr>
              <a:t>0.095 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RMSE, 1 faulty sensor (weighted mean: 1.187 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926080"/>
            <a:ext cx="315468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4A2B9"/>
                </a:solidFill>
                <a:latin typeface="Times New Roman"/>
                <a:cs typeface="Times New Roman"/>
              </a:rPr>
              <a:t>0.118 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RMSE, 2 faulty sensors (median: 0.164 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617720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4A2B9"/>
                </a:solidFill>
                <a:latin typeface="Times New Roman"/>
                <a:cs typeface="Times New Roman"/>
              </a:rPr>
              <a:t>0.287 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RMSE, 3 faulty sensors; still lowest, but no longer guaranteed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RESULTS: FAULT DETECTION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15</a:t>
            </a:fld>
            <a:endParaRPr lang="en-IN"/>
          </a:p>
        </p:txBody>
      </p:sp>
      <p:pic>
        <p:nvPicPr>
          <p:cNvPr id="16" name="Picture 15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188720"/>
            <a:ext cx="6400800" cy="2816351"/>
          </a:xfrm>
          <a:prstGeom prst="rect">
            <a:avLst/>
          </a:prstGeom>
          <a:ln w="9525">
            <a:solidFill>
              <a:srgbClr val="BFD5DA"/>
            </a:solidFill>
          </a:ln>
        </p:spPr>
      </p:pic>
      <p:sp>
        <p:nvSpPr>
          <p:cNvPr id="17" name="Rectangle 16"/>
          <p:cNvSpPr/>
          <p:nvPr/>
        </p:nvSpPr>
        <p:spPr>
          <a:xfrm>
            <a:off x="594360" y="4050791"/>
            <a:ext cx="74066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F2933"/>
                </a:solidFill>
                <a:latin typeface="Times New Roman"/>
                <a:cs typeface="Times New Roman"/>
              </a:rPr>
              <a:t>Figure 6: Error over time in one run (Radar-1 drifts, Radar-2 offset)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94360" y="4416552"/>
          <a:ext cx="740663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Faulty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Precision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False alarm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Median-gated IVW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0.754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0.772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0.017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0.992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0.727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Median-gated IVW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0.838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0.751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0.021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0.991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0.704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0.001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CD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66760" y="1234440"/>
            <a:ext cx="315468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4A2B9"/>
                </a:solidFill>
                <a:latin typeface="Times New Roman"/>
                <a:cs typeface="Times New Roman"/>
              </a:rPr>
              <a:t>&gt; 0.97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flag precision in every 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926080"/>
            <a:ext cx="315468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4A2B9"/>
                </a:solidFill>
                <a:latin typeface="Times New Roman"/>
                <a:cs typeface="Times New Roman"/>
              </a:rPr>
              <a:t>0.65–0.73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recall; missed steps are early drift and quiet spikes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617720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4A2B9"/>
                </a:solidFill>
                <a:latin typeface="Times New Roman"/>
                <a:cs typeface="Times New Roman"/>
              </a:rPr>
              <a:t>≤ 0.3 %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false alarms, vs. 1.4–2.8 % for the gated baseline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RESULTS: FAULT TYPES AND FACTOR k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16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051560"/>
            <a:ext cx="58521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F2933"/>
                </a:solidFill>
                <a:latin typeface="Times New Roman"/>
                <a:cs typeface="Times New Roman"/>
              </a:rPr>
              <a:t>Table 4: RMSE (m) by fault type, one faulty sensor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1371600"/>
          <a:ext cx="58521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Fault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Median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Gated IVW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04A2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Stuck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0.144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0.114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0.090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0.881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Offset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0.145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0.114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0.088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0.991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Drift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0.142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0.115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0.096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0.699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Burst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0.140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0.116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0.105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0.633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E6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Spike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0.133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0.106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0.083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Times New Roman"/>
                          <a:cs typeface="Times New Roman"/>
                        </a:rPr>
                        <a:t>0.300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BFD5DA"/>
                      </a:solidFill>
                    </a:lnL>
                    <a:lnR w="6350">
                      <a:solidFill>
                        <a:srgbClr val="BFD5DA"/>
                      </a:solidFill>
                    </a:lnR>
                    <a:lnT w="6350">
                      <a:solidFill>
                        <a:srgbClr val="BFD5DA"/>
                      </a:solidFill>
                    </a:lnT>
                    <a:lnB w="6350">
                      <a:solidFill>
                        <a:srgbClr val="BFD5D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" name="Picture 17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88720"/>
            <a:ext cx="4800600" cy="2437227"/>
          </a:xfrm>
          <a:prstGeom prst="rect">
            <a:avLst/>
          </a:prstGeom>
          <a:ln w="9525">
            <a:solidFill>
              <a:srgbClr val="BFD5DA"/>
            </a:solidFill>
          </a:ln>
        </p:spPr>
      </p:pic>
      <p:sp>
        <p:nvSpPr>
          <p:cNvPr id="19" name="Rectangle 18"/>
          <p:cNvSpPr/>
          <p:nvPr/>
        </p:nvSpPr>
        <p:spPr>
          <a:xfrm>
            <a:off x="6720840" y="3671667"/>
            <a:ext cx="4800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F2933"/>
                </a:solidFill>
                <a:latin typeface="Times New Roman"/>
                <a:cs typeface="Times New Roman"/>
              </a:rPr>
              <a:t>Figure 7: Effect of k on RMSE, false flags, missed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023360"/>
            <a:ext cx="585216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256032" indent="-256032" algn="l">
              <a:spcBef>
                <a:spcPts val="0"/>
              </a:spcBef>
              <a:spcAft>
                <a:spcPts val="6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Proposed method has the lowest RMSE for every fault type; spike recall is low because spikes hit only about 30 % of window steps.</a:t>
            </a:r>
          </a:p>
          <a:p>
            <a:pPr marL="256032" indent="-256032" algn="l">
              <a:spcBef>
                <a:spcPts val="0"/>
              </a:spcBef>
              <a:spcAft>
                <a:spcPts val="6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k = 1 gives 85,430 false flags; k = 4 lets small faults hide (12,195 missed steps).</a:t>
            </a:r>
          </a:p>
          <a:p>
            <a:pPr marL="256032" indent="-256032" algn="l"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k = 3 gave the lowest RMSE (0.097 m): a default, to be tuned per sensor set.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083147"/>
            <a:ext cx="4800600" cy="2134772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4A2B9"/>
                </a:solidFill>
                <a:latin typeface="Times New Roman"/>
                <a:cs typeface="Times New Roman"/>
              </a:rPr>
              <a:t>k = 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RMSE 0.097 m, 223 false flags, 0.006 % unsafe steps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RESULTS: RUN TIME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17</a:t>
            </a:fld>
            <a:endParaRPr lang="en-IN"/>
          </a:p>
        </p:txBody>
      </p:sp>
      <p:pic>
        <p:nvPicPr>
          <p:cNvPr id="16" name="Picture 15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19" y="1188720"/>
            <a:ext cx="6217920" cy="3539431"/>
          </a:xfrm>
          <a:prstGeom prst="rect">
            <a:avLst/>
          </a:prstGeom>
          <a:ln w="9525">
            <a:solidFill>
              <a:srgbClr val="BFD5DA"/>
            </a:solidFill>
          </a:ln>
        </p:spPr>
      </p:pic>
      <p:sp>
        <p:nvSpPr>
          <p:cNvPr id="17" name="Rectangle 16"/>
          <p:cNvSpPr/>
          <p:nvPr/>
        </p:nvSpPr>
        <p:spPr>
          <a:xfrm>
            <a:off x="594360" y="4773871"/>
            <a:ext cx="74066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F2933"/>
                </a:solidFill>
                <a:latin typeface="Times New Roman"/>
                <a:cs typeface="Times New Roman"/>
              </a:rPr>
              <a:t>Figure 8: Time per fusion call vs. number of sensors (log–log)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139631"/>
            <a:ext cx="7406640" cy="11240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256032" indent="-256032" algn="l">
              <a:spcBef>
                <a:spcPts val="0"/>
              </a:spcBef>
              <a:spcAft>
                <a:spcPts val="600"/>
              </a:spcAft>
              <a:buClr>
                <a:srgbClr val="04A2B9"/>
              </a:buClr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From n = 1,000 to 10,000 the time grows by 13.0×, close to the 13.3× expected from n log n scaling.</a:t>
            </a:r>
          </a:p>
          <a:p>
            <a:pPr marL="256032" indent="-256032" algn="l">
              <a:spcBef>
                <a:spcPts val="0"/>
              </a:spcBef>
              <a:spcAft>
                <a:spcPts val="600"/>
              </a:spcAft>
              <a:buClr>
                <a:srgbClr val="04A2B9"/>
              </a:buClr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Slower than the median by a large constant: the sweep is interpreted Python, the median is compiled NumPy.</a:t>
            </a:r>
          </a:p>
          <a:p>
            <a:pPr marL="256032" indent="-256032" algn="l"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Font typeface="Arial"/>
              <a:buChar char="•"/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The numbers show the growth rate, not achievable embedded timings.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234440"/>
            <a:ext cx="315468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4A2B9"/>
                </a:solidFill>
                <a:latin typeface="Times New Roman"/>
                <a:cs typeface="Times New Roman"/>
              </a:rPr>
              <a:t>0.029 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per call at n =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926080"/>
            <a:ext cx="3154680" cy="150876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4A2B9"/>
                </a:solidFill>
                <a:latin typeface="Times New Roman"/>
                <a:cs typeface="Times New Roman"/>
              </a:rPr>
              <a:t>13.0× / 13.3×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measured vs. n log n growth, n = 1,000 → 10,000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617720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4A2B9"/>
                </a:solidFill>
                <a:latin typeface="Times New Roman"/>
                <a:cs typeface="Times New Roman"/>
              </a:rPr>
              <a:t>116 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per call at n = 50,000 sensors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KEY OBSERVATIONS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18</a:t>
            </a:fld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594360" y="118872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37160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Protection costs nothing on healthy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With no faulty sensor the proposed method matches the weighted mean (0.081 m RMSE).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19456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37160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Accurate is not the same as safe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One faulty sensor makes the weighted mean the worst method (1.187 m); it trusts precise sensors even when they fail.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004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37160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Best at the design limit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With f = 2 of 5 the proposed method reaches 0.118 m, ahead of the gated baseline (0.134 m) and the median (0.164 m).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20624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37160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The guarantee ends beyond 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With three faulty sensors all methods degrade; worst error is about 14.4 m even though RMSE stays lowest (0.287 m).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21208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rIns="137160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B3C49"/>
                </a:solidFill>
                <a:latin typeface="Times New Roman"/>
                <a:cs typeface="Times New Roman"/>
              </a:rPr>
              <a:t>Precise flags, modest margin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Precision is above 0.97 but recall only 0.65–0.73; gains over the median are a few centimetres, large only over the mean.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04A2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LIMITATIONS &amp; FUTURE WORK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19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188720"/>
            <a:ext cx="5349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3C49"/>
                </a:solidFill>
                <a:latin typeface="Times New Roman"/>
                <a:cs typeface="Times New Roman"/>
              </a:rPr>
              <a:t>Limitations and challenges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691640"/>
            <a:ext cx="5349240" cy="452628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t"/>
          <a:lstStyle/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One scalar per sensor, one dimension; real fusion handles vectors, covariances and tracks.</a:t>
            </a:r>
          </a:p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Noise levels σ must be known: too small flags healthy sensors, too large lets faulty ones pass.</a:t>
            </a:r>
          </a:p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Independent noise is assumed; two cameras behind one windscreen may fail together.</a:t>
            </a:r>
          </a:p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f must be fixed in advance; beyond it the containment guarantee does not apply.</a:t>
            </a:r>
          </a:p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All data are simulated and timing is Python-only; the tie-break is a heuristic.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188720"/>
            <a:ext cx="5349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3C49"/>
                </a:solidFill>
                <a:latin typeface="Times New Roman"/>
                <a:cs typeface="Times New Roman"/>
              </a:rPr>
              <a:t>Future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691640"/>
            <a:ext cx="5349240" cy="452628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t"/>
          <a:lstStyle/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Embed the agreement test in a Kalman filter so history helps catch slow drifts.</a:t>
            </a:r>
          </a:p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Extend intervals to boxes or ellipsoids for multi-dimensional states.</a:t>
            </a:r>
          </a:p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Persist flags over several steps; estimate σ online.</a:t>
            </a:r>
          </a:p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Inject faults into recorded driving data and test correlated failures.</a:t>
            </a:r>
          </a:p>
          <a:p>
            <a:pPr marL="256032" indent="-256032" algn="l">
              <a:spcBef>
                <a:spcPts val="0"/>
              </a:spcBef>
              <a:spcAft>
                <a:spcPts val="900"/>
              </a:spcAft>
              <a:buClr>
                <a:srgbClr val="04A2B9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Measure the degraded flag; compare with Brooks–Iyengar; port to C/C++ on automotive hardware.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20</a:t>
            </a:fld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594360" y="118872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4A2B9"/>
                </a:solidFill>
                <a:latin typeface="Times New Roman"/>
                <a:cs typeface="Times New Roman"/>
              </a:rPr>
              <a:t>O(n log n)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time per cycle; O(n)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18872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4A2B9"/>
                </a:solidFill>
                <a:latin typeface="Times New Roman"/>
                <a:cs typeface="Times New Roman"/>
              </a:rPr>
              <a:t>0.095 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RMSE with 1 fault vs. 1.187 m (weighted mean)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18872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4A2B9"/>
                </a:solidFill>
                <a:latin typeface="Times New Roman"/>
                <a:cs typeface="Times New Roman"/>
              </a:rPr>
              <a:t>&gt; 0.97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precision of flagged sensors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18872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4A2B9"/>
                </a:solidFill>
                <a:latin typeface="Times New Roman"/>
                <a:cs typeface="Times New Roman"/>
              </a:rPr>
              <a:t>k = 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Times New Roman"/>
                <a:cs typeface="Times New Roman"/>
              </a:rPr>
              <a:t>default interval factor; tune per sensor 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834640"/>
            <a:ext cx="10881360" cy="3383280"/>
          </a:xfrm>
          <a:prstGeom prst="roundRect">
            <a:avLst>
              <a:gd name="adj" fmla="val 8000"/>
            </a:avLst>
          </a:prstGeom>
          <a:solidFill>
            <a:srgbClr val="E6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91440" rtlCol="0" anchor="t"/>
          <a:lstStyle/>
          <a:p>
            <a:pPr marL="256032" indent="-256032" algn="l">
              <a:spcBef>
                <a:spcPts val="0"/>
              </a:spcBef>
              <a:spcAft>
                <a:spcPts val="1000"/>
              </a:spcAft>
              <a:buClr>
                <a:srgbClr val="04A2B9"/>
              </a:buClr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Intervals z ± kσ, a sort-and-sweep consensus and inverse-variance weighting tolerate up to f faulty sensors out of n.</a:t>
            </a:r>
          </a:p>
          <a:p>
            <a:pPr marL="256032" indent="-256032" algn="l">
              <a:spcBef>
                <a:spcPts val="0"/>
              </a:spcBef>
              <a:spcAft>
                <a:spcPts val="1000"/>
              </a:spcAft>
              <a:buClr>
                <a:srgbClr val="04A2B9"/>
              </a:buClr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Two propositions: the truth lies in a region of count ≥ n − f, and an undetected fault can only deviate by a few multiples of the sensor noise.</a:t>
            </a:r>
          </a:p>
          <a:p>
            <a:pPr marL="256032" indent="-256032" algn="l">
              <a:spcBef>
                <a:spcPts val="0"/>
              </a:spcBef>
              <a:spcAft>
                <a:spcPts val="1000"/>
              </a:spcAft>
              <a:buClr>
                <a:srgbClr val="04A2B9"/>
              </a:buClr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In simulation it matched the weighted mean on healthy data and gave the lowest RMSE with one or two faulty sensors.</a:t>
            </a:r>
          </a:p>
          <a:p>
            <a:pPr marL="256032" indent="-256032" algn="l">
              <a:spcBef>
                <a:spcPts val="0"/>
              </a:spcBef>
              <a:spcAft>
                <a:spcPts val="1000"/>
              </a:spcAft>
              <a:buClr>
                <a:srgbClr val="04A2B9"/>
              </a:buClr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Margins over the median are small and nothing rescues the estimate once a majority fails; results are simulated, scalar and independent-noise.</a:t>
            </a:r>
          </a:p>
          <a:p>
            <a:pPr marL="256032" indent="-256032" algn="l">
              <a:spcBef>
                <a:spcPts val="0"/>
              </a:spcBef>
              <a:spcAft>
                <a:spcPts val="0"/>
              </a:spcAft>
              <a:buClr>
                <a:srgbClr val="04A2B9"/>
              </a:buClr>
              <a:buFont typeface="Arial"/>
              <a:buChar char="•"/>
            </a:pPr>
            <a:r>
              <a:rPr sz="1600" b="0" i="0">
                <a:solidFill>
                  <a:srgbClr val="1F2933"/>
                </a:solidFill>
                <a:latin typeface="Times New Roman"/>
                <a:cs typeface="Times New Roman"/>
              </a:rPr>
              <a:t>Robustness comes from the interval test and accuracy from the weighting, so they need not be traded off when each sensor's uncertainty is known.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98419" y="71718"/>
            <a:ext cx="8200000" cy="900344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i="0" dirty="0">
                <a:solidFill>
                  <a:srgbClr val="04A2B9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14" name="Footer 14"/>
          <p:cNvSpPr txBox="1"/>
          <p:nvPr/>
        </p:nvSpPr>
        <p:spPr>
          <a:xfrm>
            <a:off x="1664208" y="64922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F2933"/>
                </a:solidFill>
                <a:latin typeface="Times New Roman"/>
                <a:cs typeface="Times New Roman"/>
              </a:rPr>
              <a:t>Title: Fault-Tolerant Algorithm Design for Sensor Fusion in Autonomous Vehicle Systems</a:t>
            </a:r>
          </a:p>
        </p:txBody>
      </p:sp>
      <p:sp>
        <p:nvSpPr>
          <p:cNvPr id="15" name="Slide Numb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dirty="0"/>
              <a:t>21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94360" y="1097280"/>
            <a:ext cx="10927080" cy="5212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[1] D. L. Hall and J. Llinas, “An introduction to multisensor data fusion,” Proc. IEEE, vol. 85, no. 1, pp. 6–23, 1997.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[2] B. Khaleghi, A. Khamis, F. O. Karray, and S. N. Razavi, “Multisensor data fusion: A review of the state-of-the-art,” Information Fusion, vol. 14, no. 1, pp. 28–44, 2013.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[3] A. Avižienis, J.-C. Laprie, B. Randell, and C. Landwehr, “Basic concepts and taxonomy of dependable and secure computing,” IEEE TDSC, vol. 1, no. 1, pp. 11–33, 2004.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[4] R. Isermann, “Model-based fault-detection and diagnosis – status and applications,” Annual Reviews in Control, vol. 29, no. 1, pp. 71–85, 2005.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[5] R. E. Kalman, “A new approach to linear filtering and prediction problems,” J. Basic Engineering, vol. 82, no. 1, pp. 35–45, 1960.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[6] Y. Bar-Shalom, X. R. Li, and T. Kirubarajan, Estimation with Applications to Tracking and Navigation. New York, NY, USA: Wiley, 2001.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[7] L. Lamport, R. Shostak, and M. Pease, “The Byzantine generals problem,” ACM TOPLAS, vol. 4, no. 3, pp. 382–401, 1982.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[8] K. Marzullo, “Tolerating failures of continuous-valued sensors,” ACM Trans. Computer Systems, vol. 8, no. 4, pp. 284–304, 1990.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[9] R. R. Brooks and S. S. Iyengar, “Robust distributed computing and sensing algorithm,” Computer, vol. 29, no. 6, pp. 53–60, 1996.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[10] J. Van Brummelen, M. O’Brien, D. Gruyer, and H. Najjaran, “Autonomous vehicle perception: The technology of today and tomorrow,” Transp. Res. Part C, vol. 89, pp. 384–406, 2018.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[11] T. H. Cormen, C. E. Leiserson, R. L. Rivest, and C. Stein, Introduction to Algorithms, 4th ed. Cambridge, MA, USA: MIT Press, 2022.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Times New Roman"/>
                <a:cs typeface="Times New Roman"/>
              </a:rPr>
              <a:t>[12] International Organization for Standardization, ISO 26262:2018, Road vehicles – Functional safety,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</TotalTime>
  <Words>3747</Words>
  <Application>Microsoft Office PowerPoint</Application>
  <PresentationFormat>Widescreen</PresentationFormat>
  <Paragraphs>466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TABLE OF CONTENTS</vt:lpstr>
      <vt:lpstr>INTRODUCTION</vt:lpstr>
      <vt:lpstr>REVIEW OF RELATED WORK (1/2)</vt:lpstr>
      <vt:lpstr>REVIEW OF RELATED WORK (2/2)</vt:lpstr>
      <vt:lpstr>RESEARCH GAP</vt:lpstr>
      <vt:lpstr>RESEARCH METHODOLOGY</vt:lpstr>
      <vt:lpstr>SENSOR AND FAULT MODEL</vt:lpstr>
      <vt:lpstr>MATHEMATICAL FOUNDATION</vt:lpstr>
      <vt:lpstr>PROPOSED FUSION ALGORITHM</vt:lpstr>
      <vt:lpstr>WORKED EXAMPLE</vt:lpstr>
      <vt:lpstr>COMPLEXITY ANALYSIS</vt:lpstr>
      <vt:lpstr>EXPERIMENTAL SET-UP</vt:lpstr>
      <vt:lpstr>RESULTS: ESTIMATION ACCURACY</vt:lpstr>
      <vt:lpstr>RESULTS: FAULT DETECTION</vt:lpstr>
      <vt:lpstr>RESULTS: FAULT TYPES AND FACTOR k</vt:lpstr>
      <vt:lpstr>RESULTS: RUN TIME</vt:lpstr>
      <vt:lpstr>KEY OBSERVATIONS</vt:lpstr>
      <vt:lpstr>LIMITATIONS &amp; FUTURE WORK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somyasri V</cp:lastModifiedBy>
  <cp:revision>166</cp:revision>
  <dcterms:created xsi:type="dcterms:W3CDTF">2023-12-05T07:58:57Z</dcterms:created>
  <dcterms:modified xsi:type="dcterms:W3CDTF">2026-10-25T10:39:13Z</dcterms:modified>
</cp:coreProperties>
</file>